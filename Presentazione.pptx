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8" r:id="rId5"/>
    <p:sldId id="269" r:id="rId6"/>
    <p:sldId id="270" r:id="rId7"/>
    <p:sldId id="259" r:id="rId8"/>
    <p:sldId id="271" r:id="rId9"/>
    <p:sldId id="272" r:id="rId10"/>
    <p:sldId id="273" r:id="rId11"/>
    <p:sldId id="260" r:id="rId12"/>
    <p:sldId id="274" r:id="rId13"/>
    <p:sldId id="276" r:id="rId14"/>
    <p:sldId id="277" r:id="rId15"/>
    <p:sldId id="278" r:id="rId16"/>
    <p:sldId id="280" r:id="rId17"/>
    <p:sldId id="279" r:id="rId18"/>
    <p:sldId id="265" r:id="rId19"/>
    <p:sldId id="266" r:id="rId20"/>
    <p:sldId id="26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090"/>
    <a:srgbClr val="00A8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475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6CFAB-788F-425E-9B5C-792E5125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A6BEA-DBEC-7F5E-B4BD-4A2E511B4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BC11D-891E-9E44-E227-E5273F537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B35B6-F2BA-E777-EB5D-EF9775941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00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E07F6-0884-9EE0-24B0-C9B9AA33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6C9F6-8996-6B3A-8A24-20CDC863D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655A8-CA9D-EF09-E32A-3F7FF3A34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E3700-C273-24C2-A930-36B6F63AE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81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0879-AA93-607E-27C4-E5DD7C3A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5E159-C117-ECB4-F4DC-8739DAC5A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B35AF-3BBB-075A-EF94-92F45E8E5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28B6E-B323-5925-6510-5F4B8D35E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53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50CA-C393-3BF3-103D-5676CD42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0A3A8-A706-D5A7-0C2E-276CB7D99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7DB71-5381-8288-5814-13E2C7C2C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D7243-2874-BEB7-10AD-3BCAE8FFE8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79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Analisi Statistica del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Contenuto Alcolico nel Vino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Eros Pinzani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Obiettivo dello Studio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</a:rPr>
              <a:t>Analizzare la composizione chimica del vino per comprendere quali fattori determinano il </a:t>
            </a:r>
            <a:r>
              <a:rPr lang="en-US" sz="1600" b="1" dirty="0">
                <a:solidFill>
                  <a:srgbClr val="028090"/>
                </a:solidFill>
              </a:rPr>
              <a:t>contenuto alcolico (Alch)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71750"/>
            <a:ext cx="3657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14400" y="275463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Fase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2039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C2C2C"/>
                </a:solidFill>
              </a:rPr>
              <a:t>Esaminata</a:t>
            </a:r>
            <a:r>
              <a:rPr lang="en-US" sz="1400" dirty="0">
                <a:solidFill>
                  <a:srgbClr val="2C2C2C"/>
                </a:solidFill>
              </a:rPr>
              <a:t> la </a:t>
            </a:r>
            <a:r>
              <a:rPr lang="en-US" sz="1400" dirty="0" err="1">
                <a:solidFill>
                  <a:srgbClr val="2C2C2C"/>
                </a:solidFill>
              </a:rPr>
              <a:t>popolazione</a:t>
            </a:r>
            <a:r>
              <a:rPr lang="en-US" sz="1400" dirty="0">
                <a:solidFill>
                  <a:srgbClr val="2C2C2C"/>
                </a:solidFill>
              </a:rPr>
              <a:t> </a:t>
            </a:r>
            <a:r>
              <a:rPr lang="en-US" sz="1400" dirty="0" err="1">
                <a:solidFill>
                  <a:srgbClr val="2C2C2C"/>
                </a:solidFill>
              </a:rPr>
              <a:t>globale</a:t>
            </a:r>
            <a:r>
              <a:rPr lang="en-US" sz="1400" dirty="0">
                <a:solidFill>
                  <a:srgbClr val="2C2C2C"/>
                </a:solidFill>
              </a:rPr>
              <a:t> senza la </a:t>
            </a:r>
            <a:r>
              <a:rPr lang="en-US" sz="1400" dirty="0" err="1">
                <a:solidFill>
                  <a:srgbClr val="2C2C2C"/>
                </a:solidFill>
              </a:rPr>
              <a:t>variabile</a:t>
            </a:r>
            <a:r>
              <a:rPr lang="en-US" sz="1400" dirty="0">
                <a:solidFill>
                  <a:srgbClr val="2C2C2C"/>
                </a:solidFill>
              </a:rPr>
              <a:t> Cultivar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571750"/>
            <a:ext cx="3657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937760" y="275463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Fase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312039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C2C2C"/>
                </a:solidFill>
              </a:rPr>
              <a:t>Analisi</a:t>
            </a:r>
            <a:r>
              <a:rPr lang="en-US" sz="1400" dirty="0">
                <a:solidFill>
                  <a:srgbClr val="2C2C2C"/>
                </a:solidFill>
              </a:rPr>
              <a:t> </a:t>
            </a:r>
            <a:r>
              <a:rPr lang="en-US" sz="1400" dirty="0" err="1">
                <a:solidFill>
                  <a:srgbClr val="2C2C2C"/>
                </a:solidFill>
              </a:rPr>
              <a:t>eseguita</a:t>
            </a:r>
            <a:r>
              <a:rPr lang="en-US" sz="1400" dirty="0">
                <a:solidFill>
                  <a:srgbClr val="2C2C2C"/>
                </a:solidFill>
              </a:rPr>
              <a:t> con la </a:t>
            </a:r>
            <a:r>
              <a:rPr lang="en-US" sz="1400" dirty="0" err="1">
                <a:solidFill>
                  <a:srgbClr val="2C2C2C"/>
                </a:solidFill>
              </a:rPr>
              <a:t>variabile</a:t>
            </a:r>
            <a:r>
              <a:rPr lang="en-US" sz="1400" dirty="0">
                <a:solidFill>
                  <a:srgbClr val="2C2C2C"/>
                </a:solidFill>
              </a:rPr>
              <a:t> Cultivar</a:t>
            </a:r>
            <a:endParaRPr lang="en-US" sz="14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AF9C6EB7-C083-8770-B8B9-90AD3B208478}"/>
              </a:ext>
            </a:extLst>
          </p:cNvPr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/>
              <a:t>L’analisi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è </a:t>
            </a:r>
            <a:r>
              <a:rPr lang="en-US" sz="1600" dirty="0" err="1"/>
              <a:t>sviluppata</a:t>
            </a:r>
            <a:r>
              <a:rPr lang="en-US" sz="1600" dirty="0"/>
              <a:t> in 2 </a:t>
            </a:r>
            <a:r>
              <a:rPr lang="en-US" sz="1600" dirty="0" err="1"/>
              <a:t>fasi</a:t>
            </a:r>
            <a:r>
              <a:rPr lang="en-US" sz="1600" dirty="0"/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Il Dataset Wine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31520" y="1313412"/>
            <a:ext cx="3657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4048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178 campioni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24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di </a:t>
            </a:r>
            <a:r>
              <a:rPr lang="en-US" sz="1600" dirty="0" err="1">
                <a:solidFill>
                  <a:srgbClr val="FFFFFF"/>
                </a:solidFill>
              </a:rPr>
              <a:t>vini</a:t>
            </a:r>
            <a:r>
              <a:rPr lang="en-US" sz="1600" dirty="0">
                <a:solidFill>
                  <a:srgbClr val="FFFFFF"/>
                </a:solidFill>
              </a:rPr>
              <a:t> italiani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313412"/>
            <a:ext cx="3657600" cy="731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754880" y="14048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13 variabili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1724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chimiche misurate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192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761"/>
                </a:solidFill>
              </a:rPr>
              <a:t>Variabili</a:t>
            </a:r>
            <a:r>
              <a:rPr lang="en-US" sz="1600" b="1" dirty="0">
                <a:solidFill>
                  <a:srgbClr val="1E2761"/>
                </a:solidFill>
              </a:rPr>
              <a:t> </a:t>
            </a:r>
            <a:r>
              <a:rPr lang="en-US" sz="1600" b="1" dirty="0" err="1">
                <a:solidFill>
                  <a:srgbClr val="1E2761"/>
                </a:solidFill>
              </a:rPr>
              <a:t>chimiche</a:t>
            </a:r>
            <a:r>
              <a:rPr lang="en-US" sz="1600" b="1" dirty="0">
                <a:solidFill>
                  <a:srgbClr val="1E2761"/>
                </a:solidFill>
              </a:rPr>
              <a:t>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679960"/>
            <a:ext cx="3474720" cy="1314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</a:rPr>
              <a:t>Alch</a:t>
            </a:r>
            <a:r>
              <a:rPr lang="en-US" sz="1200" dirty="0">
                <a:solidFill>
                  <a:srgbClr val="2C2C2C"/>
                </a:solidFill>
              </a:rPr>
              <a:t> - Contenuto alcolico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Mlca - Acido malico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Ash - Ceneri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Aloa - Alcalinità ceneri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Mgns - Magnesio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Ttlp - Fenoli totali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Flvn - Flavonoidi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679960"/>
            <a:ext cx="3474720" cy="1314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Nnfp - Fenoli non flavonoidi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Prnt - Proantocianidine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Clri - Intensità colore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Hue - Tonalità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Oodw - Rapporto assorbanza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</a:rPr>
              <a:t>Prln - </a:t>
            </a:r>
            <a:r>
              <a:rPr lang="en-US" sz="1200" dirty="0" err="1">
                <a:solidFill>
                  <a:srgbClr val="2C2C2C"/>
                </a:solidFill>
              </a:rPr>
              <a:t>Prolina</a:t>
            </a:r>
            <a:endParaRPr lang="en-US" sz="12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3ED874E-F69F-8C07-68AB-DB3799BAA2B5}"/>
              </a:ext>
            </a:extLst>
          </p:cNvPr>
          <p:cNvSpPr txBox="1"/>
          <p:nvPr/>
        </p:nvSpPr>
        <p:spPr>
          <a:xfrm>
            <a:off x="1686402" y="4088973"/>
            <a:ext cx="5092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Variabile categorica Cult: identifica il tipo di coltivazione (v1, v2, v3)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5D3E28-A11B-D5D4-713C-CDF5814A732F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Pre-Processing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E11E08-A2D1-4A0D-E20B-A60DD11816B6}"/>
              </a:ext>
            </a:extLst>
          </p:cNvPr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F548039-2F55-0758-1241-1B6857E5C66D}"/>
              </a:ext>
            </a:extLst>
          </p:cNvPr>
          <p:cNvSpPr txBox="1"/>
          <p:nvPr/>
        </p:nvSpPr>
        <p:spPr>
          <a:xfrm>
            <a:off x="731520" y="1083027"/>
            <a:ext cx="768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Visualizzazione del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Suddivisione in sottopopolazioni: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9B9304C-85BB-982D-54E8-62F2861A582C}"/>
              </a:ext>
            </a:extLst>
          </p:cNvPr>
          <p:cNvSpPr/>
          <p:nvPr/>
        </p:nvSpPr>
        <p:spPr>
          <a:xfrm>
            <a:off x="731520" y="2571750"/>
            <a:ext cx="3657600" cy="17627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C01F719-CB3F-5314-64B5-0BDF69328D4D}"/>
              </a:ext>
            </a:extLst>
          </p:cNvPr>
          <p:cNvSpPr/>
          <p:nvPr/>
        </p:nvSpPr>
        <p:spPr>
          <a:xfrm>
            <a:off x="914400" y="275463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Fase 1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DC73A7F-3DCB-826F-98AB-03DAFAA2651E}"/>
              </a:ext>
            </a:extLst>
          </p:cNvPr>
          <p:cNvSpPr/>
          <p:nvPr/>
        </p:nvSpPr>
        <p:spPr>
          <a:xfrm>
            <a:off x="914400" y="3120390"/>
            <a:ext cx="3291840" cy="1030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Rimossa</a:t>
            </a:r>
            <a:r>
              <a:rPr lang="en-US" sz="1400" dirty="0"/>
              <a:t> la </a:t>
            </a:r>
            <a:r>
              <a:rPr lang="en-US" sz="1400" dirty="0" err="1"/>
              <a:t>variabile</a:t>
            </a:r>
            <a:r>
              <a:rPr lang="en-US" sz="1400" dirty="0"/>
              <a:t> </a:t>
            </a:r>
            <a:r>
              <a:rPr lang="en-US" sz="1400" b="1" dirty="0"/>
              <a:t>Cult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Popolazione</a:t>
            </a:r>
            <a:r>
              <a:rPr lang="en-US" sz="1400" dirty="0"/>
              <a:t> </a:t>
            </a:r>
            <a:r>
              <a:rPr lang="en-US" sz="1400" dirty="0" err="1"/>
              <a:t>costituita</a:t>
            </a:r>
            <a:r>
              <a:rPr lang="en-US" sz="1400" dirty="0"/>
              <a:t> da 13 </a:t>
            </a:r>
            <a:r>
              <a:rPr lang="en-US" sz="1400" dirty="0" err="1"/>
              <a:t>variabili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Focus </a:t>
            </a:r>
            <a:r>
              <a:rPr lang="en-US" sz="1400" dirty="0" err="1"/>
              <a:t>sulle</a:t>
            </a:r>
            <a:r>
              <a:rPr lang="en-US" sz="1400" dirty="0"/>
              <a:t> </a:t>
            </a:r>
            <a:r>
              <a:rPr lang="en-US" sz="1400" dirty="0" err="1"/>
              <a:t>relazioni</a:t>
            </a:r>
            <a:r>
              <a:rPr lang="en-US" sz="1400" dirty="0"/>
              <a:t> </a:t>
            </a:r>
            <a:r>
              <a:rPr lang="en-US" sz="1400" dirty="0" err="1"/>
              <a:t>chimiche</a:t>
            </a:r>
            <a:endParaRPr lang="en-US" sz="1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783D51E-D9F6-91BB-A350-525C5AD1D2F1}"/>
              </a:ext>
            </a:extLst>
          </p:cNvPr>
          <p:cNvSpPr/>
          <p:nvPr/>
        </p:nvSpPr>
        <p:spPr>
          <a:xfrm>
            <a:off x="4754880" y="2571750"/>
            <a:ext cx="3657600" cy="1762744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B962523-5820-C59F-0AC0-4D1919EA0CF3}"/>
              </a:ext>
            </a:extLst>
          </p:cNvPr>
          <p:cNvSpPr/>
          <p:nvPr/>
        </p:nvSpPr>
        <p:spPr>
          <a:xfrm>
            <a:off x="4937760" y="275463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Fase 2</a:t>
            </a:r>
            <a:endParaRPr lang="en-US" sz="1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ED58103-63E2-A262-FD4E-F6C26D3C23C6}"/>
              </a:ext>
            </a:extLst>
          </p:cNvPr>
          <p:cNvSpPr/>
          <p:nvPr/>
        </p:nvSpPr>
        <p:spPr>
          <a:xfrm>
            <a:off x="4937760" y="3120390"/>
            <a:ext cx="3291840" cy="1154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Inclusa</a:t>
            </a:r>
            <a:r>
              <a:rPr lang="en-US" sz="1400" dirty="0"/>
              <a:t> la </a:t>
            </a:r>
            <a:r>
              <a:rPr lang="en-US" sz="1400" dirty="0" err="1"/>
              <a:t>variabile</a:t>
            </a:r>
            <a:r>
              <a:rPr lang="en-US" sz="1400" dirty="0"/>
              <a:t> Cult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Convertita</a:t>
            </a:r>
            <a:r>
              <a:rPr lang="en-US" sz="1400" dirty="0"/>
              <a:t> in </a:t>
            </a:r>
            <a:r>
              <a:rPr lang="en-US" sz="1400" dirty="0" err="1"/>
              <a:t>variabile</a:t>
            </a:r>
            <a:r>
              <a:rPr lang="en-US" sz="1400" dirty="0"/>
              <a:t> dummy (Cult_v2, Cult_v3)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Focus </a:t>
            </a:r>
            <a:r>
              <a:rPr lang="en-US" sz="1400" dirty="0" err="1"/>
              <a:t>sull’effetto</a:t>
            </a:r>
            <a:r>
              <a:rPr lang="en-US" sz="1400" dirty="0"/>
              <a:t> del </a:t>
            </a:r>
            <a:r>
              <a:rPr lang="en-US" sz="1400" dirty="0" err="1"/>
              <a:t>tipo</a:t>
            </a:r>
            <a:r>
              <a:rPr lang="en-US" sz="1400" dirty="0"/>
              <a:t> di </a:t>
            </a:r>
            <a:r>
              <a:rPr lang="en-US" sz="1400" dirty="0" err="1"/>
              <a:t>coltivazione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77550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D6BB7CB2-0B49-B4C2-A09A-11936F23881E}"/>
              </a:ext>
            </a:extLst>
          </p:cNvPr>
          <p:cNvSpPr/>
          <p:nvPr/>
        </p:nvSpPr>
        <p:spPr>
          <a:xfrm>
            <a:off x="546265" y="2155371"/>
            <a:ext cx="1282535" cy="1116281"/>
          </a:xfrm>
          <a:prstGeom prst="roundRect">
            <a:avLst/>
          </a:prstGeom>
          <a:noFill/>
          <a:ln w="19050">
            <a:solidFill>
              <a:srgbClr val="00A8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61DC4C2-D0F4-760C-CD1C-D80BEF898278}"/>
              </a:ext>
            </a:extLst>
          </p:cNvPr>
          <p:cNvSpPr txBox="1"/>
          <p:nvPr/>
        </p:nvSpPr>
        <p:spPr>
          <a:xfrm>
            <a:off x="546264" y="2482678"/>
            <a:ext cx="1282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ANALISI ESPLORATIVA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00102BBB-845C-DA71-75D1-C8C4332F03E3}"/>
              </a:ext>
            </a:extLst>
          </p:cNvPr>
          <p:cNvSpPr/>
          <p:nvPr/>
        </p:nvSpPr>
        <p:spPr>
          <a:xfrm>
            <a:off x="2628412" y="2155371"/>
            <a:ext cx="1282535" cy="1116281"/>
          </a:xfrm>
          <a:prstGeom prst="roundRect">
            <a:avLst/>
          </a:prstGeom>
          <a:noFill/>
          <a:ln w="19050">
            <a:solidFill>
              <a:srgbClr val="00A8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43BF1E7-706C-E4F5-B79D-CFEA9AA955BE}"/>
              </a:ext>
            </a:extLst>
          </p:cNvPr>
          <p:cNvSpPr txBox="1"/>
          <p:nvPr/>
        </p:nvSpPr>
        <p:spPr>
          <a:xfrm>
            <a:off x="2758050" y="2482678"/>
            <a:ext cx="1023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GRAFI INDIRETTI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E938B1F-4705-539D-21C2-46C430576FB5}"/>
              </a:ext>
            </a:extLst>
          </p:cNvPr>
          <p:cNvSpPr/>
          <p:nvPr/>
        </p:nvSpPr>
        <p:spPr>
          <a:xfrm>
            <a:off x="4841174" y="2153391"/>
            <a:ext cx="1282535" cy="1116281"/>
          </a:xfrm>
          <a:prstGeom prst="roundRect">
            <a:avLst/>
          </a:prstGeom>
          <a:noFill/>
          <a:ln w="19050">
            <a:solidFill>
              <a:srgbClr val="00A8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D51A0B8D-29F4-4F3B-317F-54B18523576D}"/>
              </a:ext>
            </a:extLst>
          </p:cNvPr>
          <p:cNvSpPr/>
          <p:nvPr/>
        </p:nvSpPr>
        <p:spPr>
          <a:xfrm>
            <a:off x="7030192" y="2151411"/>
            <a:ext cx="1282535" cy="1116281"/>
          </a:xfrm>
          <a:prstGeom prst="roundRect">
            <a:avLst/>
          </a:prstGeom>
          <a:noFill/>
          <a:ln w="19050">
            <a:solidFill>
              <a:srgbClr val="00A8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1C4DF7-80D7-598C-5E15-8A8A343C0269}"/>
              </a:ext>
            </a:extLst>
          </p:cNvPr>
          <p:cNvSpPr txBox="1"/>
          <p:nvPr/>
        </p:nvSpPr>
        <p:spPr>
          <a:xfrm>
            <a:off x="4841173" y="2571051"/>
            <a:ext cx="1282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DAG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89AB67A-171B-BE6A-BB61-BB5DBC3E5588}"/>
              </a:ext>
            </a:extLst>
          </p:cNvPr>
          <p:cNvSpPr txBox="1"/>
          <p:nvPr/>
        </p:nvSpPr>
        <p:spPr>
          <a:xfrm>
            <a:off x="7030192" y="2482678"/>
            <a:ext cx="1282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REGRESSIONE LINEARE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70958FA9-AE64-4328-6EA1-33FE6D83C2EB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828799" y="2713511"/>
            <a:ext cx="799613" cy="1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C2BD5CE-2A6D-FD00-6D18-D8DA46C16A54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3910947" y="2709551"/>
            <a:ext cx="930226" cy="3961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5A6D756B-B8A6-AE65-6073-AB20EC70207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123708" y="2709551"/>
            <a:ext cx="906484" cy="396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0">
            <a:extLst>
              <a:ext uri="{FF2B5EF4-FFF2-40B4-BE49-F238E27FC236}">
                <a16:creationId xmlns:a16="http://schemas.microsoft.com/office/drawing/2014/main" id="{07D01AC5-BD04-6578-85F5-7EEC5676FBBD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E2761"/>
                </a:solidFill>
              </a:rPr>
              <a:t>Approccio</a:t>
            </a:r>
            <a:r>
              <a:rPr lang="en-US" sz="3600" b="1" dirty="0">
                <a:solidFill>
                  <a:srgbClr val="1E2761"/>
                </a:solidFill>
              </a:rPr>
              <a:t> </a:t>
            </a:r>
            <a:r>
              <a:rPr lang="en-US" sz="3600" b="1" dirty="0" err="1">
                <a:solidFill>
                  <a:srgbClr val="1E2761"/>
                </a:solidFill>
              </a:rPr>
              <a:t>metodologico</a:t>
            </a:r>
            <a:endParaRPr lang="en-US" sz="3600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88198A74-C648-2C92-8EFB-9498CB35F2FC}"/>
              </a:ext>
            </a:extLst>
          </p:cNvPr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9756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2858D5-60FF-5628-DB55-57B779B433ED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E2761"/>
                </a:solidFill>
              </a:rPr>
              <a:t>Analisi</a:t>
            </a:r>
            <a:r>
              <a:rPr lang="en-US" sz="3600" b="1" dirty="0">
                <a:solidFill>
                  <a:srgbClr val="1E2761"/>
                </a:solidFill>
              </a:rPr>
              <a:t> </a:t>
            </a:r>
            <a:r>
              <a:rPr lang="en-US" sz="3600" b="1" dirty="0" err="1">
                <a:solidFill>
                  <a:srgbClr val="1E2761"/>
                </a:solidFill>
              </a:rPr>
              <a:t>Esplorativa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0ADF72-2E03-D2C3-5242-3DE9A8BEBAF5}"/>
              </a:ext>
            </a:extLst>
          </p:cNvPr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DEE354C-172B-5EAD-E199-0A7519DFCB6C}"/>
              </a:ext>
            </a:extLst>
          </p:cNvPr>
          <p:cNvSpPr txBox="1"/>
          <p:nvPr/>
        </p:nvSpPr>
        <p:spPr>
          <a:xfrm>
            <a:off x="599704" y="1216746"/>
            <a:ext cx="80870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Statistiche descrittive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Density</a:t>
            </a:r>
            <a:r>
              <a:rPr lang="it-IT" dirty="0"/>
              <a:t>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Box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Matrici </a:t>
            </a:r>
            <a:r>
              <a:rPr lang="it-IT" dirty="0" err="1"/>
              <a:t>scatterplot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Matrici delle correlazioni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Heatmap</a:t>
            </a:r>
            <a:r>
              <a:rPr lang="it-IT" dirty="0"/>
              <a:t> delle correlazioni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03C8CC-6E98-3632-BAEF-4569712F3C26}"/>
              </a:ext>
            </a:extLst>
          </p:cNvPr>
          <p:cNvSpPr/>
          <p:nvPr/>
        </p:nvSpPr>
        <p:spPr>
          <a:xfrm>
            <a:off x="457200" y="316369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Risultati Chiave: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1866A5-CB3D-3269-19F1-923264F331EA}"/>
              </a:ext>
            </a:extLst>
          </p:cNvPr>
          <p:cNvSpPr/>
          <p:nvPr/>
        </p:nvSpPr>
        <p:spPr>
          <a:xfrm>
            <a:off x="822960" y="352945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</a:rPr>
              <a:t>Netta separazione tra cultivar: Cultivar 1 &gt; Cultivar 3 &gt; Cultivar 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</a:rPr>
              <a:t>Correlazioni più forti: Prln (r=0.64) e Clri (r=0.55) con Alch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</a:rPr>
              <a:t>Forte multicollinearità tra composti fenolici (Flvn-Ttlp r=0.86)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399443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Analisi Esplorativa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Statistiche Descrittive - Contenuto Alcolico (Alch)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44277"/>
              </p:ext>
            </p:extLst>
          </p:nvPr>
        </p:nvGraphicFramePr>
        <p:xfrm>
          <a:off x="731520" y="1691640"/>
          <a:ext cx="7955280" cy="2887960"/>
        </p:xfrm>
        <a:graphic>
          <a:graphicData uri="http://schemas.openxmlformats.org/drawingml/2006/table">
            <a:tbl>
              <a:tblPr/>
              <a:tblGrid>
                <a:gridCol w="1112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747">
                  <a:extLst>
                    <a:ext uri="{9D8B030D-6E8A-4147-A177-3AD203B41FA5}">
                      <a16:colId xmlns:a16="http://schemas.microsoft.com/office/drawing/2014/main" val="2034698372"/>
                    </a:ext>
                  </a:extLst>
                </a:gridCol>
                <a:gridCol w="854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982">
                  <a:extLst>
                    <a:ext uri="{9D8B030D-6E8A-4147-A177-3AD203B41FA5}">
                      <a16:colId xmlns:a16="http://schemas.microsoft.com/office/drawing/2014/main" val="1096926551"/>
                    </a:ext>
                  </a:extLst>
                </a:gridCol>
                <a:gridCol w="776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342">
                  <a:extLst>
                    <a:ext uri="{9D8B030D-6E8A-4147-A177-3AD203B41FA5}">
                      <a16:colId xmlns:a16="http://schemas.microsoft.com/office/drawing/2014/main" val="1397638718"/>
                    </a:ext>
                  </a:extLst>
                </a:gridCol>
                <a:gridCol w="1074779">
                  <a:extLst>
                    <a:ext uri="{9D8B030D-6E8A-4147-A177-3AD203B41FA5}">
                      <a16:colId xmlns:a16="http://schemas.microsoft.com/office/drawing/2014/main" val="2444414128"/>
                    </a:ext>
                  </a:extLst>
                </a:gridCol>
                <a:gridCol w="7763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Gruppo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Dev_Std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Globale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13.00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0.81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11.03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12.36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13.05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13.68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14.83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Cultivar 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59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13.74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12.85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13.40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13.75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14.10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14.83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Cultivar 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71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12.28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0.54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11.03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11.91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12.29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12.52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13.86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Cultivar 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13.15</a:t>
                      </a:r>
                      <a:endParaRPr lang="en-US" sz="1300" b="1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0.53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12.20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12.80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13.16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/>
                        <a:t>13.50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14.34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D1EA-8F41-8F90-85DA-F64977DB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73C989-772A-F41B-730D-C280101D37CD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Analisi Esplorativa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5078910-0D77-1888-02DF-0055F496F85A}"/>
              </a:ext>
            </a:extLst>
          </p:cNvPr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D8B0BAA-8BE5-5E6F-6457-8F3A17D2FC53}"/>
              </a:ext>
            </a:extLst>
          </p:cNvPr>
          <p:cNvSpPr/>
          <p:nvPr/>
        </p:nvSpPr>
        <p:spPr>
          <a:xfrm>
            <a:off x="731520" y="915587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Density Plot</a:t>
            </a:r>
            <a:endParaRPr lang="en-US" sz="1800" dirty="0"/>
          </a:p>
        </p:txBody>
      </p:sp>
      <p:pic>
        <p:nvPicPr>
          <p:cNvPr id="11" name="Immagine 10" descr="Immagine che contiene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36B7804F-4A17-5AA9-0F19-D3BDB2756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455" y="1254048"/>
            <a:ext cx="5095089" cy="1338640"/>
          </a:xfrm>
          <a:prstGeom prst="rect">
            <a:avLst/>
          </a:prstGeom>
        </p:spPr>
      </p:pic>
      <p:pic>
        <p:nvPicPr>
          <p:cNvPr id="13" name="Immagine 12" descr="Immagine che contiene schermata, diagramma, testo, linea&#10;&#10;Il contenuto generato dall'IA potrebbe non essere corretto.">
            <a:extLst>
              <a:ext uri="{FF2B5EF4-FFF2-40B4-BE49-F238E27FC236}">
                <a16:creationId xmlns:a16="http://schemas.microsoft.com/office/drawing/2014/main" id="{7B11FE49-ECBD-31EC-614D-2E6C7A193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358" y="3067485"/>
            <a:ext cx="4549281" cy="1801695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95D8F946-7A64-AF38-4523-A6884DC5EA9F}"/>
              </a:ext>
            </a:extLst>
          </p:cNvPr>
          <p:cNvSpPr/>
          <p:nvPr/>
        </p:nvSpPr>
        <p:spPr>
          <a:xfrm>
            <a:off x="723363" y="2857931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Boxplot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6594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6AFF-FF61-AC13-76C0-77919A24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075BD6-B5D5-8E77-AEF3-65E9BBA4906B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Analisi Esplorativa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88A78E-8B2F-E616-166F-3F71BF9BEF06}"/>
              </a:ext>
            </a:extLst>
          </p:cNvPr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65A6324-66EA-056A-3F2F-58F7F18DD8ED}"/>
              </a:ext>
            </a:extLst>
          </p:cNvPr>
          <p:cNvSpPr/>
          <p:nvPr/>
        </p:nvSpPr>
        <p:spPr>
          <a:xfrm>
            <a:off x="457200" y="984749"/>
            <a:ext cx="34438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Matrice di </a:t>
            </a:r>
            <a:r>
              <a:rPr lang="en-US" sz="1800" b="1" dirty="0" err="1">
                <a:solidFill>
                  <a:srgbClr val="1E2761"/>
                </a:solidFill>
              </a:rPr>
              <a:t>correlazione</a:t>
            </a:r>
            <a:endParaRPr lang="en-US" sz="1800" dirty="0"/>
          </a:p>
        </p:txBody>
      </p:sp>
      <p:pic>
        <p:nvPicPr>
          <p:cNvPr id="5" name="Immagine 4" descr="Immagine che contiene testo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9C221802-4403-F686-58E2-B01FE62C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4867"/>
            <a:ext cx="3443847" cy="307121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1CBCCE20-9CF1-777B-BA7D-7C7105AEED4E}"/>
              </a:ext>
            </a:extLst>
          </p:cNvPr>
          <p:cNvSpPr/>
          <p:nvPr/>
        </p:nvSpPr>
        <p:spPr>
          <a:xfrm>
            <a:off x="4765258" y="979096"/>
            <a:ext cx="34438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1E2761"/>
                </a:solidFill>
              </a:rPr>
              <a:t>Confronto</a:t>
            </a:r>
            <a:r>
              <a:rPr lang="en-US" sz="1800" b="1" dirty="0">
                <a:solidFill>
                  <a:srgbClr val="1E2761"/>
                </a:solidFill>
              </a:rPr>
              <a:t> </a:t>
            </a:r>
            <a:r>
              <a:rPr lang="en-US" sz="1800" b="1" dirty="0" err="1">
                <a:solidFill>
                  <a:srgbClr val="1E2761"/>
                </a:solidFill>
              </a:rPr>
              <a:t>correlazioni</a:t>
            </a:r>
            <a:r>
              <a:rPr lang="en-US" sz="1800" b="1" dirty="0">
                <a:solidFill>
                  <a:srgbClr val="1E2761"/>
                </a:solidFill>
              </a:rPr>
              <a:t> con </a:t>
            </a:r>
            <a:r>
              <a:rPr lang="en-US" sz="1800" b="1" dirty="0" err="1">
                <a:solidFill>
                  <a:srgbClr val="1E2761"/>
                </a:solidFill>
              </a:rPr>
              <a:t>alch</a:t>
            </a:r>
            <a:endParaRPr lang="en-US" sz="1800" dirty="0"/>
          </a:p>
        </p:txBody>
      </p:sp>
      <p:pic>
        <p:nvPicPr>
          <p:cNvPr id="9" name="Immagine 8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FD74DDD2-0DAD-4104-5AAC-A6F5B1402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701" y="1771073"/>
            <a:ext cx="4930962" cy="208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22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1FB706-54E6-B11C-D4B0-9D874A2AF0F9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Modelli Grafici Indiretti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7F5A9B-AC15-DC3C-E988-3637B08EC093}"/>
              </a:ext>
            </a:extLst>
          </p:cNvPr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926C35D-846F-EFB4-5A8C-EC55168A41DD}"/>
              </a:ext>
            </a:extLst>
          </p:cNvPr>
          <p:cNvSpPr txBox="1"/>
          <p:nvPr/>
        </p:nvSpPr>
        <p:spPr>
          <a:xfrm>
            <a:off x="718092" y="997038"/>
            <a:ext cx="7707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>
                <a:solidFill>
                  <a:srgbClr val="1E2761"/>
                </a:solidFill>
              </a:rPr>
              <a:t>Calcolo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matrice</a:t>
            </a:r>
            <a:r>
              <a:rPr lang="en-US" b="1" dirty="0">
                <a:solidFill>
                  <a:srgbClr val="1E2761"/>
                </a:solidFill>
              </a:rPr>
              <a:t> di </a:t>
            </a:r>
            <a:r>
              <a:rPr lang="en-US" b="1" dirty="0" err="1">
                <a:solidFill>
                  <a:srgbClr val="1E2761"/>
                </a:solidFill>
              </a:rPr>
              <a:t>correlazione</a:t>
            </a:r>
            <a:r>
              <a:rPr lang="en-US" b="1" dirty="0">
                <a:solidFill>
                  <a:srgbClr val="1E2761"/>
                </a:solidFill>
              </a:rPr>
              <a:t> Parziale e </a:t>
            </a:r>
            <a:r>
              <a:rPr lang="en-US" b="1" dirty="0" err="1">
                <a:solidFill>
                  <a:srgbClr val="1E2761"/>
                </a:solidFill>
              </a:rPr>
              <a:t>confronto</a:t>
            </a:r>
            <a:r>
              <a:rPr lang="en-US" b="1" dirty="0">
                <a:solidFill>
                  <a:srgbClr val="1E2761"/>
                </a:solidFill>
              </a:rPr>
              <a:t> con </a:t>
            </a:r>
            <a:r>
              <a:rPr lang="en-US" b="1" dirty="0" err="1">
                <a:solidFill>
                  <a:srgbClr val="1E2761"/>
                </a:solidFill>
              </a:rPr>
              <a:t>correlazioni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Marginali</a:t>
            </a:r>
            <a:r>
              <a:rPr lang="en-US" b="1" dirty="0">
                <a:solidFill>
                  <a:srgbClr val="1E2761"/>
                </a:solidFill>
              </a:rPr>
              <a:t>  </a:t>
            </a:r>
            <a:endParaRPr lang="en-US" dirty="0"/>
          </a:p>
        </p:txBody>
      </p:sp>
      <p:pic>
        <p:nvPicPr>
          <p:cNvPr id="6" name="Immagine 5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81CB5278-AF81-FADF-C202-E54D45832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0378"/>
            <a:ext cx="3659681" cy="3245824"/>
          </a:xfrm>
          <a:prstGeom prst="rect">
            <a:avLst/>
          </a:prstGeom>
        </p:spPr>
      </p:pic>
      <p:pic>
        <p:nvPicPr>
          <p:cNvPr id="8" name="Immagine 7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BDE23BFF-84EB-8B46-75A6-AEB980D1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872" y="2074502"/>
            <a:ext cx="4472928" cy="19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22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Modelli Grafici Indiretti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89016" y="1903015"/>
            <a:ext cx="80977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8090"/>
                </a:solidFill>
              </a:rPr>
              <a:t>Popolazione Globale (senza Cultivar)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017" y="1097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Metodologia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017" y="1298448"/>
            <a:ext cx="3291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2C2C2C"/>
                </a:solidFill>
              </a:rPr>
              <a:t>Selezione</a:t>
            </a:r>
            <a:r>
              <a:rPr lang="en-US" sz="1100" dirty="0">
                <a:solidFill>
                  <a:srgbClr val="2C2C2C"/>
                </a:solidFill>
              </a:rPr>
              <a:t> modello: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Criterio stepwise backward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77335"/>
            <a:ext cx="2017618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14400" y="2314495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Risultati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634535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78 → 33 archi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000295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Riduzione 58%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3868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Dipendenze Condizionali Identificate: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1209" y="3705697"/>
            <a:ext cx="125878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61209" y="3842857"/>
            <a:ext cx="1258784" cy="287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Alch → Clri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603661" y="3715495"/>
            <a:ext cx="1301538" cy="494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603661" y="3852655"/>
            <a:ext cx="1301538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Alch → Prln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030" y="4491251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C2C2C"/>
                </a:solidFill>
              </a:rPr>
              <a:t>Solo Clri e Prln mantengono dipendenza condizionale diretta con Alch</a:t>
            </a:r>
            <a:endParaRPr lang="en-US" sz="1400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00A25FC3-44F9-7716-3DC4-DAAA690E1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613" y="1496036"/>
            <a:ext cx="1490807" cy="171752"/>
          </a:xfrm>
          <a:prstGeom prst="rect">
            <a:avLst/>
          </a:prstGeom>
        </p:spPr>
      </p:pic>
      <p:pic>
        <p:nvPicPr>
          <p:cNvPr id="22" name="Immagine 21" descr="Immagine che contiene cerchio, linea, schermata, arte&#10;&#10;Il contenuto generato dall'IA potrebbe non essere corretto.">
            <a:extLst>
              <a:ext uri="{FF2B5EF4-FFF2-40B4-BE49-F238E27FC236}">
                <a16:creationId xmlns:a16="http://schemas.microsoft.com/office/drawing/2014/main" id="{21FAEC87-2401-A493-46E4-24021143B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906" y="1742531"/>
            <a:ext cx="3841075" cy="26394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595D-2B6A-25AB-8BE6-9F1D54BD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CE5CD9-459B-CFE2-8BF4-D5FA12FAD6AE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Modelli Grafici Indiretti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23294C-4EE0-9AF7-DA80-C6800E8C2DC1}"/>
              </a:ext>
            </a:extLst>
          </p:cNvPr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4FA954-883F-2CA4-C57A-99772BCA2F5C}"/>
              </a:ext>
            </a:extLst>
          </p:cNvPr>
          <p:cNvSpPr/>
          <p:nvPr/>
        </p:nvSpPr>
        <p:spPr>
          <a:xfrm>
            <a:off x="589016" y="963266"/>
            <a:ext cx="80977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028090"/>
                </a:solidFill>
              </a:rPr>
              <a:t>Popolazione</a:t>
            </a:r>
            <a:r>
              <a:rPr lang="en-US" sz="1800" i="1" dirty="0">
                <a:solidFill>
                  <a:srgbClr val="028090"/>
                </a:solidFill>
              </a:rPr>
              <a:t> con Cultivar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C69EECD-BCD9-9E9B-094A-EEE631795426}"/>
              </a:ext>
            </a:extLst>
          </p:cNvPr>
          <p:cNvSpPr/>
          <p:nvPr/>
        </p:nvSpPr>
        <p:spPr>
          <a:xfrm>
            <a:off x="638046" y="1347282"/>
            <a:ext cx="2017618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2AE331-CC76-0202-DFA9-D9120541A594}"/>
              </a:ext>
            </a:extLst>
          </p:cNvPr>
          <p:cNvSpPr/>
          <p:nvPr/>
        </p:nvSpPr>
        <p:spPr>
          <a:xfrm>
            <a:off x="820926" y="148444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Risultati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BFC1232-6624-5E27-9E8C-36A926F3F2C6}"/>
              </a:ext>
            </a:extLst>
          </p:cNvPr>
          <p:cNvSpPr/>
          <p:nvPr/>
        </p:nvSpPr>
        <p:spPr>
          <a:xfrm>
            <a:off x="820926" y="180448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105 → 60 archi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C1A9DAA-F1C2-7AEF-0428-27696D7B0793}"/>
              </a:ext>
            </a:extLst>
          </p:cNvPr>
          <p:cNvSpPr/>
          <p:nvPr/>
        </p:nvSpPr>
        <p:spPr>
          <a:xfrm>
            <a:off x="820926" y="217024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</a:rPr>
              <a:t>Riduzione</a:t>
            </a:r>
            <a:r>
              <a:rPr lang="en-US" sz="1200" dirty="0">
                <a:solidFill>
                  <a:srgbClr val="FFFFFF"/>
                </a:solidFill>
              </a:rPr>
              <a:t> 43%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9712488-377B-4F26-C206-1D095455D987}"/>
              </a:ext>
            </a:extLst>
          </p:cNvPr>
          <p:cNvSpPr/>
          <p:nvPr/>
        </p:nvSpPr>
        <p:spPr>
          <a:xfrm>
            <a:off x="638046" y="2556791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Dipendenze Condizionali Identificate: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2E8BCC6-7FCA-E693-F474-D54808DDB364}"/>
              </a:ext>
            </a:extLst>
          </p:cNvPr>
          <p:cNvSpPr/>
          <p:nvPr/>
        </p:nvSpPr>
        <p:spPr>
          <a:xfrm>
            <a:off x="667735" y="2875644"/>
            <a:ext cx="125878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6092449-FFE2-F615-21A1-C5838953B6D3}"/>
              </a:ext>
            </a:extLst>
          </p:cNvPr>
          <p:cNvSpPr/>
          <p:nvPr/>
        </p:nvSpPr>
        <p:spPr>
          <a:xfrm>
            <a:off x="667735" y="3012804"/>
            <a:ext cx="1258784" cy="287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Alch → Clri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4B51A7B-8DCB-E23A-7B24-FFFBDDA5C080}"/>
              </a:ext>
            </a:extLst>
          </p:cNvPr>
          <p:cNvSpPr/>
          <p:nvPr/>
        </p:nvSpPr>
        <p:spPr>
          <a:xfrm>
            <a:off x="2510186" y="2885442"/>
            <a:ext cx="1665519" cy="494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7BD1DFF-95CD-910E-BDDA-CD1DC61DD0D0}"/>
              </a:ext>
            </a:extLst>
          </p:cNvPr>
          <p:cNvSpPr/>
          <p:nvPr/>
        </p:nvSpPr>
        <p:spPr>
          <a:xfrm>
            <a:off x="2510187" y="3022602"/>
            <a:ext cx="1665518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Alch → Cult_v2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9E438DD-9CCC-6F4A-43AA-45A292610153}"/>
              </a:ext>
            </a:extLst>
          </p:cNvPr>
          <p:cNvSpPr/>
          <p:nvPr/>
        </p:nvSpPr>
        <p:spPr>
          <a:xfrm>
            <a:off x="457200" y="4503420"/>
            <a:ext cx="6904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400" i="1" dirty="0">
                <a:solidFill>
                  <a:srgbClr val="2C2C2C"/>
                </a:solidFill>
              </a:rPr>
              <a:t>Il cultivar ha un effetto diretto sul contenuto alcolico, indipendente dalle variabili chimiche</a:t>
            </a:r>
          </a:p>
        </p:txBody>
      </p:sp>
      <p:pic>
        <p:nvPicPr>
          <p:cNvPr id="18" name="Immagine 17" descr="Immagine che contiene diagramma, cerchio, linea&#10;&#10;Il contenuto generato dall'IA potrebbe non essere corretto.">
            <a:extLst>
              <a:ext uri="{FF2B5EF4-FFF2-40B4-BE49-F238E27FC236}">
                <a16:creationId xmlns:a16="http://schemas.microsoft.com/office/drawing/2014/main" id="{32DA6424-3452-49F8-C8FB-3F63D8046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08" y="1287813"/>
            <a:ext cx="3529098" cy="2885471"/>
          </a:xfrm>
          <a:prstGeom prst="rect">
            <a:avLst/>
          </a:prstGeom>
        </p:spPr>
      </p:pic>
      <p:sp>
        <p:nvSpPr>
          <p:cNvPr id="19" name="Shape 13">
            <a:extLst>
              <a:ext uri="{FF2B5EF4-FFF2-40B4-BE49-F238E27FC236}">
                <a16:creationId xmlns:a16="http://schemas.microsoft.com/office/drawing/2014/main" id="{B6C933F4-43C9-A9FD-C9D1-0FA1E36F0F68}"/>
              </a:ext>
            </a:extLst>
          </p:cNvPr>
          <p:cNvSpPr/>
          <p:nvPr/>
        </p:nvSpPr>
        <p:spPr>
          <a:xfrm>
            <a:off x="1425031" y="3810373"/>
            <a:ext cx="1665519" cy="494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887E084-37D8-E060-A082-077D0F61FE57}"/>
              </a:ext>
            </a:extLst>
          </p:cNvPr>
          <p:cNvSpPr/>
          <p:nvPr/>
        </p:nvSpPr>
        <p:spPr>
          <a:xfrm>
            <a:off x="1425032" y="3947533"/>
            <a:ext cx="1665518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Alch → Cult_v3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9136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Modelli Grafici Diretti (DAG)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8090"/>
                </a:solidFill>
              </a:rPr>
              <a:t>Popolazione Globale (senza Cultivar)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DAG Libero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69420"/>
            <a:ext cx="4114800" cy="80233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9065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Algoritmo: Hill-Climbing con BIC-G (no vincoli)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Risultato: 24 archi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Alch: 0 genitori, 3 figli (Clri, Hue, Prln)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→ Alch interpretato come causa, non effetto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DAG Vincolato (Alch sink)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769420"/>
            <a:ext cx="4114800" cy="80233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00" y="19065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Vincolo: Alch può solo ricevere archi (nodo sink)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Risultato: 23 archi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Genitori di Alch: Clri, Prln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→ Orientamento causale corretto</a:t>
            </a:r>
            <a:endParaRPr lang="en-US" sz="1100" dirty="0"/>
          </a:p>
        </p:txBody>
      </p:sp>
      <p:pic>
        <p:nvPicPr>
          <p:cNvPr id="16" name="Immagine 15" descr="Immagine che contiene linea&#10;&#10;Il contenuto generato dall'IA potrebbe non essere corretto.">
            <a:extLst>
              <a:ext uri="{FF2B5EF4-FFF2-40B4-BE49-F238E27FC236}">
                <a16:creationId xmlns:a16="http://schemas.microsoft.com/office/drawing/2014/main" id="{56A47927-74A1-B0C0-AA8B-462EFAAA2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335" y="2606040"/>
            <a:ext cx="3058530" cy="2488027"/>
          </a:xfrm>
          <a:prstGeom prst="rect">
            <a:avLst/>
          </a:prstGeom>
        </p:spPr>
      </p:pic>
      <p:pic>
        <p:nvPicPr>
          <p:cNvPr id="18" name="Immagine 17" descr="Immagine che contiene linea&#10;&#10;Il contenuto generato dall'IA potrebbe non essere corretto.">
            <a:extLst>
              <a:ext uri="{FF2B5EF4-FFF2-40B4-BE49-F238E27FC236}">
                <a16:creationId xmlns:a16="http://schemas.microsoft.com/office/drawing/2014/main" id="{15E4D16F-3ED8-F649-3534-589AD9D31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431" y="2624901"/>
            <a:ext cx="3130577" cy="24503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Modelli Grafici Diretti (DAG)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8090"/>
                </a:solidFill>
              </a:rPr>
              <a:t>Popolazione con Cultivar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DAG Libero con Cultivar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69420"/>
            <a:ext cx="4114800" cy="8823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9065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Include Cult_v2 e Cult_v3 (no vincoli)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Risultato: 35 archi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Alch: 0 genitori, 4 figli (Clri, Prln, Cult_v2, Cult_v3)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→ Orientamento implausibile: Alch causa Cultivar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DAG Vincolato (Cult source, Alch sink)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769420"/>
            <a:ext cx="4114800" cy="8823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00" y="19065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Vincoli: Cult_v2/v3 esogene (source) + Alch sink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Risultato: 34 archi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Genitori di Alch: Cult_v2, Cult_v3, Clri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→ Cultivar ha effetto causale diretto su Alch</a:t>
            </a:r>
            <a:endParaRPr lang="en-US" sz="1100" dirty="0"/>
          </a:p>
        </p:txBody>
      </p:sp>
      <p:pic>
        <p:nvPicPr>
          <p:cNvPr id="16" name="Immagine 15" descr="Immagine che contiene linea&#10;&#10;Il contenuto generato dall'IA potrebbe non essere corretto.">
            <a:extLst>
              <a:ext uri="{FF2B5EF4-FFF2-40B4-BE49-F238E27FC236}">
                <a16:creationId xmlns:a16="http://schemas.microsoft.com/office/drawing/2014/main" id="{3E9C225F-F1CB-83A0-9BF2-5A12BD644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31" y="2663636"/>
            <a:ext cx="3009537" cy="2441303"/>
          </a:xfrm>
          <a:prstGeom prst="rect">
            <a:avLst/>
          </a:prstGeom>
        </p:spPr>
      </p:pic>
      <p:pic>
        <p:nvPicPr>
          <p:cNvPr id="18" name="Immagine 17" descr="Immagine che contiene linea&#10;&#10;Il contenuto generato dall'IA potrebbe non essere corretto.">
            <a:extLst>
              <a:ext uri="{FF2B5EF4-FFF2-40B4-BE49-F238E27FC236}">
                <a16:creationId xmlns:a16="http://schemas.microsoft.com/office/drawing/2014/main" id="{D8144064-E407-7FD3-B076-BD846FDCA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9" y="2663636"/>
            <a:ext cx="2948922" cy="24453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Regressione Lineare Multipla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8090"/>
                </a:solidFill>
              </a:rPr>
              <a:t>Quantificazione degli Effetti sui Predittori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233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Metodologia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81395"/>
            <a:ext cx="3657600" cy="1450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</a:rPr>
              <a:t>Stimare un modello quantitativo per </a:t>
            </a:r>
            <a:r>
              <a:rPr lang="en-US" sz="1400" dirty="0" err="1">
                <a:solidFill>
                  <a:srgbClr val="2C2C2C"/>
                </a:solidFill>
              </a:rPr>
              <a:t>predire</a:t>
            </a:r>
            <a:r>
              <a:rPr lang="en-US" sz="1400" dirty="0">
                <a:solidFill>
                  <a:srgbClr val="2C2C2C"/>
                </a:solidFill>
              </a:rPr>
              <a:t> </a:t>
            </a:r>
            <a:r>
              <a:rPr lang="en-US" sz="1400" b="1" dirty="0">
                <a:solidFill>
                  <a:srgbClr val="2C2C2C"/>
                </a:solidFill>
              </a:rPr>
              <a:t>Alch</a:t>
            </a: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</a:rPr>
              <a:t>Stima </a:t>
            </a:r>
            <a:r>
              <a:rPr lang="en-US" sz="1400" dirty="0" err="1">
                <a:solidFill>
                  <a:srgbClr val="2C2C2C"/>
                </a:solidFill>
              </a:rPr>
              <a:t>tramite</a:t>
            </a:r>
            <a:r>
              <a:rPr lang="en-US" sz="1400" dirty="0">
                <a:solidFill>
                  <a:srgbClr val="2C2C2C"/>
                </a:solidFill>
              </a:rPr>
              <a:t> la </a:t>
            </a:r>
            <a:r>
              <a:rPr lang="en-US" sz="1400" dirty="0" err="1">
                <a:solidFill>
                  <a:srgbClr val="2C2C2C"/>
                </a:solidFill>
              </a:rPr>
              <a:t>funzione</a:t>
            </a:r>
            <a:r>
              <a:rPr lang="en-US" sz="1400" dirty="0">
                <a:solidFill>
                  <a:srgbClr val="2C2C2C"/>
                </a:solidFill>
              </a:rPr>
              <a:t> </a:t>
            </a:r>
            <a:r>
              <a:rPr lang="en-US" sz="1400" dirty="0" err="1">
                <a:solidFill>
                  <a:srgbClr val="2C2C2C"/>
                </a:solidFill>
              </a:rPr>
              <a:t>lm</a:t>
            </a:r>
            <a:r>
              <a:rPr lang="en-US" sz="1400" dirty="0">
                <a:solidFill>
                  <a:srgbClr val="2C2C2C"/>
                </a:solidFill>
              </a:rPr>
              <a:t>()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</a:rPr>
              <a:t>Selezione automatica con step(), </a:t>
            </a:r>
            <a:r>
              <a:rPr lang="en-US" sz="1400" dirty="0" err="1">
                <a:solidFill>
                  <a:srgbClr val="2C2C2C"/>
                </a:solidFill>
              </a:rPr>
              <a:t>usati</a:t>
            </a:r>
            <a:r>
              <a:rPr lang="en-US" sz="1400" dirty="0">
                <a:solidFill>
                  <a:srgbClr val="2C2C2C"/>
                </a:solidFill>
              </a:rPr>
              <a:t> </a:t>
            </a:r>
            <a:r>
              <a:rPr lang="en-US" sz="1400" dirty="0" err="1">
                <a:solidFill>
                  <a:srgbClr val="2C2C2C"/>
                </a:solidFill>
              </a:rPr>
              <a:t>criteri</a:t>
            </a:r>
            <a:r>
              <a:rPr lang="en-US" sz="1400" dirty="0">
                <a:solidFill>
                  <a:srgbClr val="2C2C2C"/>
                </a:solidFill>
              </a:rPr>
              <a:t> AIC e BIC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</a:rPr>
              <a:t>Andamenti: Forward, Backward, Both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00567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Modello Lineare:</a:t>
            </a:r>
            <a:endParaRPr lang="en-US" sz="1500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8BE767FD-E92C-5D09-51E9-7BF4C066B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57" y="4078876"/>
            <a:ext cx="3372083" cy="2706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586A-CBC7-A20B-F650-82E60D54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95C02F-3C19-EADA-C1FF-BADD9F29E123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Risultati Regressione Lineare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A7E7A4C-1F3F-4E2A-08EB-C7B71E6EC047}"/>
              </a:ext>
            </a:extLst>
          </p:cNvPr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4916BD-1C59-15CD-048C-06B8F7DFEBF3}"/>
              </a:ext>
            </a:extLst>
          </p:cNvPr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028090"/>
                </a:solidFill>
              </a:rPr>
              <a:t>Modelli</a:t>
            </a:r>
            <a:r>
              <a:rPr lang="en-US" sz="1800" i="1" dirty="0">
                <a:solidFill>
                  <a:srgbClr val="028090"/>
                </a:solidFill>
              </a:rPr>
              <a:t> AIC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E1C835-3790-5447-AEFE-3599F46BCB75}"/>
              </a:ext>
            </a:extLst>
          </p:cNvPr>
          <p:cNvSpPr/>
          <p:nvPr/>
        </p:nvSpPr>
        <p:spPr>
          <a:xfrm>
            <a:off x="457200" y="1202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Popolazione Globale (senza Cultivar)</a:t>
            </a:r>
            <a:endParaRPr lang="en-US" sz="16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F51764EC-F83E-7211-75F4-2542A886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026203"/>
              </p:ext>
            </p:extLst>
          </p:nvPr>
        </p:nvGraphicFramePr>
        <p:xfrm>
          <a:off x="457201" y="1523161"/>
          <a:ext cx="8229600" cy="1019639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2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Predittori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 Adjusted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AIC (tutte le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direzioni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(-)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Prnt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, (+)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Mlca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**, (-)Aloa*, (+)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Oodw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**, (+)Prln***, (+)Clri***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0.574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5">
            <a:extLst>
              <a:ext uri="{FF2B5EF4-FFF2-40B4-BE49-F238E27FC236}">
                <a16:creationId xmlns:a16="http://schemas.microsoft.com/office/drawing/2014/main" id="{52F1660A-BD68-B31B-E6D9-475ADE657199}"/>
              </a:ext>
            </a:extLst>
          </p:cNvPr>
          <p:cNvSpPr/>
          <p:nvPr/>
        </p:nvSpPr>
        <p:spPr>
          <a:xfrm>
            <a:off x="457200" y="273770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Popolazione con Cultivar</a:t>
            </a:r>
            <a:endParaRPr lang="en-US" sz="1600" dirty="0"/>
          </a:p>
        </p:txBody>
      </p:sp>
      <p:graphicFrame>
        <p:nvGraphicFramePr>
          <p:cNvPr id="9" name="Table 1">
            <a:extLst>
              <a:ext uri="{FF2B5EF4-FFF2-40B4-BE49-F238E27FC236}">
                <a16:creationId xmlns:a16="http://schemas.microsoft.com/office/drawing/2014/main" id="{F9489622-4180-31BD-8114-C9C8F7281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384956"/>
              </p:ext>
            </p:extLst>
          </p:nvPr>
        </p:nvGraphicFramePr>
        <p:xfrm>
          <a:off x="457199" y="3162546"/>
          <a:ext cx="4114800" cy="1202520"/>
        </p:xfrm>
        <a:graphic>
          <a:graphicData uri="http://schemas.openxmlformats.org/drawingml/2006/table">
            <a:tbl>
              <a:tblPr/>
              <a:tblGrid>
                <a:gridCol w="1062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5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Predittori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 Adjusted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AIC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Forward/Both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(-)Cult_v2***, (-)Cult_v3***, (+)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Clri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***, (-)Ash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0.641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47F1FA2-A00F-F638-CA65-55D107F56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389912"/>
              </p:ext>
            </p:extLst>
          </p:nvPr>
        </p:nvGraphicFramePr>
        <p:xfrm>
          <a:off x="4702630" y="3162547"/>
          <a:ext cx="4137431" cy="1202519"/>
        </p:xfrm>
        <a:graphic>
          <a:graphicData uri="http://schemas.openxmlformats.org/drawingml/2006/table">
            <a:tbl>
              <a:tblPr/>
              <a:tblGrid>
                <a:gridCol w="106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4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Predittori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 Adjusted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AIC Backward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(+)</a:t>
                      </a:r>
                      <a:r>
                        <a:rPr lang="en-US" sz="1200" dirty="0" err="1"/>
                        <a:t>Mlca</a:t>
                      </a:r>
                      <a:r>
                        <a:rPr lang="en-US" sz="1200" dirty="0"/>
                        <a:t>., (-)Ash., (+)</a:t>
                      </a:r>
                      <a:r>
                        <a:rPr lang="en-US" sz="1200" dirty="0" err="1"/>
                        <a:t>Clri</a:t>
                      </a:r>
                      <a:r>
                        <a:rPr lang="en-US" sz="1200" dirty="0"/>
                        <a:t>***, (+)Hue, (-)Cult_v2***,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200" dirty="0"/>
                        <a:t>(-)Cultv3***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0.561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Shape 7">
            <a:extLst>
              <a:ext uri="{FF2B5EF4-FFF2-40B4-BE49-F238E27FC236}">
                <a16:creationId xmlns:a16="http://schemas.microsoft.com/office/drawing/2014/main" id="{CD340E66-7200-3475-64D5-1CDC9E218DED}"/>
              </a:ext>
            </a:extLst>
          </p:cNvPr>
          <p:cNvSpPr/>
          <p:nvPr/>
        </p:nvSpPr>
        <p:spPr>
          <a:xfrm>
            <a:off x="457200" y="4446712"/>
            <a:ext cx="8382861" cy="538099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53470715-AFBE-F37A-240C-A4BDBBB84EB8}"/>
              </a:ext>
            </a:extLst>
          </p:cNvPr>
          <p:cNvSpPr/>
          <p:nvPr/>
        </p:nvSpPr>
        <p:spPr>
          <a:xfrm>
            <a:off x="457201" y="4551220"/>
            <a:ext cx="83828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err="1">
                <a:solidFill>
                  <a:srgbClr val="FFFFFF"/>
                </a:solidFill>
              </a:rPr>
              <a:t>Incremento</a:t>
            </a:r>
            <a:r>
              <a:rPr lang="en-US" sz="1400" b="1" dirty="0">
                <a:solidFill>
                  <a:srgbClr val="FFFFFF"/>
                </a:solidFill>
              </a:rPr>
              <a:t> R²: da 57.4% a 64.1% → +6.7 </a:t>
            </a:r>
            <a:r>
              <a:rPr lang="en-US" sz="1400" b="1" dirty="0" err="1">
                <a:solidFill>
                  <a:srgbClr val="FFFFFF"/>
                </a:solidFill>
              </a:rPr>
              <a:t>punti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percentuali</a:t>
            </a:r>
            <a:endParaRPr lang="en-US" sz="1400" b="1" dirty="0">
              <a:solidFill>
                <a:srgbClr val="FFFFFF"/>
              </a:solidFill>
            </a:endParaRPr>
          </a:p>
          <a:p>
            <a:r>
              <a:rPr lang="it-IT" sz="1200" i="1" dirty="0">
                <a:solidFill>
                  <a:schemeClr val="bg1"/>
                </a:solidFill>
              </a:rPr>
              <a:t>Non si riportano i coefficienti del modello AIC poiché il criterio tende a includere variabili non significative, preferendo il BIC per la sua parsimonia e la perfetta convergenza con le dipendenze identificate nei modelli grafici</a:t>
            </a:r>
            <a:endParaRPr lang="en-US" sz="12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46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Risultati Regressione Lineare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028090"/>
                </a:solidFill>
              </a:rPr>
              <a:t>Modelli</a:t>
            </a:r>
            <a:r>
              <a:rPr lang="en-US" sz="1800" i="1" dirty="0">
                <a:solidFill>
                  <a:srgbClr val="028090"/>
                </a:solidFill>
              </a:rPr>
              <a:t> BIC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202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Popolazione Globale (senza Cultivar)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563480"/>
              </p:ext>
            </p:extLst>
          </p:nvPr>
        </p:nvGraphicFramePr>
        <p:xfrm>
          <a:off x="457201" y="1469719"/>
          <a:ext cx="4346368" cy="1024073"/>
        </p:xfrm>
        <a:graphic>
          <a:graphicData uri="http://schemas.openxmlformats.org/drawingml/2006/table">
            <a:tbl>
              <a:tblPr/>
              <a:tblGrid>
                <a:gridCol w="1086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5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Predittori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 Adjusted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BIC Forward/Both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(+)Prln***, (+)Clri***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0.540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1" y="2531819"/>
            <a:ext cx="3093522" cy="27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Coefficienti: Prln (β=0.00135***), Clri (β=0.133***)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844911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Popolazione con Cultivar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942491"/>
              </p:ext>
            </p:extLst>
          </p:nvPr>
        </p:nvGraphicFramePr>
        <p:xfrm>
          <a:off x="457199" y="3162547"/>
          <a:ext cx="8229602" cy="777240"/>
        </p:xfrm>
        <a:graphic>
          <a:graphicData uri="http://schemas.openxmlformats.org/drawingml/2006/table">
            <a:tbl>
              <a:tblPr/>
              <a:tblGrid>
                <a:gridCol w="2057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Predittori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 Adjusted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BIC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(tutte direzioni)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(-)Cult_v2***, (-)Cult_v3***, (+)Clri***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0.641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199" y="3983103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Coefficienti: Cult_v2 (β=-1.20***), Cult_v3 (β=-0.79***), Clri (β=0.108***)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4355871"/>
            <a:ext cx="8229599" cy="599187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457198" y="4441614"/>
            <a:ext cx="82295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Incremento R²: da 54.0% a 64.1% → +10.1 punti percentuali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Prln scompare con cultivar → effetto completamente mediato dal tipo di </a:t>
            </a:r>
            <a:r>
              <a:rPr lang="en-US" sz="1200" i="1" dirty="0" err="1">
                <a:solidFill>
                  <a:srgbClr val="FFFFFF"/>
                </a:solidFill>
              </a:rPr>
              <a:t>coltivazione</a:t>
            </a:r>
            <a:r>
              <a:rPr lang="en-US" sz="1200" i="1" dirty="0">
                <a:solidFill>
                  <a:srgbClr val="FFFFFF"/>
                </a:solidFill>
              </a:rPr>
              <a:t>. </a:t>
            </a:r>
            <a:r>
              <a:rPr lang="en-US" sz="1200" i="1" dirty="0" err="1">
                <a:solidFill>
                  <a:srgbClr val="FFFFFF"/>
                </a:solidFill>
              </a:rPr>
              <a:t>Rispecchia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i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risultati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ottenuti</a:t>
            </a:r>
            <a:r>
              <a:rPr lang="en-US" sz="1200" i="1" dirty="0">
                <a:solidFill>
                  <a:srgbClr val="FFFFFF"/>
                </a:solidFill>
              </a:rPr>
              <a:t> con </a:t>
            </a:r>
            <a:r>
              <a:rPr lang="en-US" sz="1200" i="1" dirty="0" err="1">
                <a:solidFill>
                  <a:srgbClr val="FFFFFF"/>
                </a:solidFill>
              </a:rPr>
              <a:t>i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grafi</a:t>
            </a:r>
            <a:endParaRPr lang="en-US" sz="1200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84F2AC-2159-CD2A-753E-AF998B762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825732"/>
              </p:ext>
            </p:extLst>
          </p:nvPr>
        </p:nvGraphicFramePr>
        <p:xfrm>
          <a:off x="4880758" y="1474153"/>
          <a:ext cx="3806043" cy="1019639"/>
        </p:xfrm>
        <a:graphic>
          <a:graphicData uri="http://schemas.openxmlformats.org/drawingml/2006/table">
            <a:tbl>
              <a:tblPr/>
              <a:tblGrid>
                <a:gridCol w="951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4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Predittori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 Adjusted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BIC Backward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(+)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Mlca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*, (-)Aloa*, (+)Prln***, (+)Clri***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0.561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 4">
            <a:extLst>
              <a:ext uri="{FF2B5EF4-FFF2-40B4-BE49-F238E27FC236}">
                <a16:creationId xmlns:a16="http://schemas.microsoft.com/office/drawing/2014/main" id="{4A812B01-7C6C-CE65-A880-37E8478AC590}"/>
              </a:ext>
            </a:extLst>
          </p:cNvPr>
          <p:cNvSpPr/>
          <p:nvPr/>
        </p:nvSpPr>
        <p:spPr>
          <a:xfrm>
            <a:off x="4880758" y="2571750"/>
            <a:ext cx="3093522" cy="27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666666"/>
                </a:solidFill>
              </a:rPr>
              <a:t>Coefficienti: </a:t>
            </a:r>
            <a:r>
              <a:rPr lang="en-US" sz="1100" i="1" dirty="0" err="1">
                <a:solidFill>
                  <a:srgbClr val="666666"/>
                </a:solidFill>
              </a:rPr>
              <a:t>Mlca</a:t>
            </a:r>
            <a:r>
              <a:rPr lang="en-US" sz="1100" i="1" dirty="0">
                <a:solidFill>
                  <a:srgbClr val="666666"/>
                </a:solidFill>
              </a:rPr>
              <a:t> (β =0.102*), Aloa (β =-0.0337*), </a:t>
            </a:r>
            <a:r>
              <a:rPr lang="en-US" sz="1100" i="1" dirty="0" err="1">
                <a:solidFill>
                  <a:srgbClr val="666666"/>
                </a:solidFill>
              </a:rPr>
              <a:t>Prln</a:t>
            </a:r>
            <a:r>
              <a:rPr lang="en-US" sz="1100" i="1" dirty="0">
                <a:solidFill>
                  <a:srgbClr val="666666"/>
                </a:solidFill>
              </a:rPr>
              <a:t> (β=0.00128***), </a:t>
            </a:r>
            <a:r>
              <a:rPr lang="en-US" sz="1100" i="1" dirty="0" err="1">
                <a:solidFill>
                  <a:srgbClr val="666666"/>
                </a:solidFill>
              </a:rPr>
              <a:t>Clri</a:t>
            </a:r>
            <a:r>
              <a:rPr lang="en-US" sz="1100" i="1" dirty="0">
                <a:solidFill>
                  <a:srgbClr val="666666"/>
                </a:solidFill>
              </a:rPr>
              <a:t> (β=0.125***)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Validazione Triangolata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8090"/>
                </a:solidFill>
              </a:rPr>
              <a:t>Convergenza di Tre Approcci Metodologici Indipendenti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6888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Grafi Indiretti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(UG)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Dipendenze condizionali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Alch connesso a: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• Clri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• Prln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46888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Grafi Diretti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(DAG)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Relazioni causali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Genitori di Alch: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• Clri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• Prln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645920"/>
            <a:ext cx="246888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Regressione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Multipla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2743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Quantificazione effetti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Modello BIC: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• Clri (β=0.133)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• Prln (β=0.00135)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Convergenza Perfetta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Risultati Principali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" cy="6400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05840" y="118450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5882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</a:rPr>
              <a:t>Predittori chimici principali: </a:t>
            </a:r>
            <a:r>
              <a:rPr lang="en-US" sz="1200" b="1" dirty="0">
                <a:solidFill>
                  <a:srgbClr val="2C2C2C"/>
                </a:solidFill>
              </a:rPr>
              <a:t>Clri</a:t>
            </a:r>
            <a:r>
              <a:rPr lang="en-US" sz="1200" dirty="0">
                <a:solidFill>
                  <a:srgbClr val="2C2C2C"/>
                </a:solidFill>
              </a:rPr>
              <a:t> (intensità colore) e </a:t>
            </a:r>
            <a:r>
              <a:rPr lang="en-US" sz="1200" b="1" dirty="0">
                <a:solidFill>
                  <a:srgbClr val="2C2C2C"/>
                </a:solidFill>
              </a:rPr>
              <a:t>Prln</a:t>
            </a:r>
            <a:r>
              <a:rPr lang="en-US" sz="1200" dirty="0">
                <a:solidFill>
                  <a:srgbClr val="2C2C2C"/>
                </a:solidFill>
              </a:rPr>
              <a:t> (prolina) hanno dipendenza condizionale diretta con </a:t>
            </a:r>
            <a:r>
              <a:rPr lang="en-US" sz="1200" b="1" dirty="0">
                <a:solidFill>
                  <a:srgbClr val="2C2C2C"/>
                </a:solidFill>
              </a:rPr>
              <a:t>Alch</a:t>
            </a:r>
            <a:r>
              <a:rPr lang="en-US" sz="1200" dirty="0">
                <a:solidFill>
                  <a:srgbClr val="2C2C2C"/>
                </a:solidFill>
              </a:rPr>
              <a:t> nella popolazione globale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</a:rPr>
              <a:t>Il </a:t>
            </a:r>
            <a:r>
              <a:rPr lang="en-US" sz="1200" b="1" dirty="0">
                <a:solidFill>
                  <a:srgbClr val="2C2C2C"/>
                </a:solidFill>
              </a:rPr>
              <a:t>cultivar</a:t>
            </a:r>
            <a:r>
              <a:rPr lang="en-US" sz="1200" dirty="0">
                <a:solidFill>
                  <a:srgbClr val="2C2C2C"/>
                </a:solidFill>
              </a:rPr>
              <a:t> ha effetto causale diretto sul contenuto alcolico non mediato dalle 13 variabili chimiche (suggerisce meccanismi biologici non catturati)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1089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</a:rPr>
              <a:t>Prolina</a:t>
            </a:r>
            <a:r>
              <a:rPr lang="en-US" sz="1200" dirty="0">
                <a:solidFill>
                  <a:srgbClr val="2C2C2C"/>
                </a:solidFill>
              </a:rPr>
              <a:t> scompare come predittore quando si include il </a:t>
            </a:r>
            <a:r>
              <a:rPr lang="en-US" sz="1200" b="1" dirty="0">
                <a:solidFill>
                  <a:srgbClr val="2C2C2C"/>
                </a:solidFill>
              </a:rPr>
              <a:t>cultivar</a:t>
            </a:r>
            <a:r>
              <a:rPr lang="en-US" sz="1200" dirty="0">
                <a:solidFill>
                  <a:srgbClr val="2C2C2C"/>
                </a:solidFill>
              </a:rPr>
              <a:t> → il suo effetto è completamente mediato dal tipo di coltivazione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005840" y="368046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9547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</a:rPr>
              <a:t>Incremento </a:t>
            </a:r>
            <a:r>
              <a:rPr lang="en-US" sz="1200" dirty="0" err="1">
                <a:solidFill>
                  <a:srgbClr val="2C2C2C"/>
                </a:solidFill>
              </a:rPr>
              <a:t>sostanziale</a:t>
            </a:r>
            <a:r>
              <a:rPr lang="en-US" sz="1200" dirty="0">
                <a:solidFill>
                  <a:srgbClr val="2C2C2C"/>
                </a:solidFill>
              </a:rPr>
              <a:t> della </a:t>
            </a:r>
            <a:r>
              <a:rPr lang="en-US" sz="1200" dirty="0" err="1">
                <a:solidFill>
                  <a:srgbClr val="2C2C2C"/>
                </a:solidFill>
              </a:rPr>
              <a:t>capacità</a:t>
            </a:r>
            <a:r>
              <a:rPr lang="en-US" sz="1200" dirty="0">
                <a:solidFill>
                  <a:srgbClr val="2C2C2C"/>
                </a:solidFill>
              </a:rPr>
              <a:t> predittiva: da R² adj=54.0% (solo chimica) a R² adj=64.1% (con cultivar) → +10.1 punti percentuali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05840" y="448056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7548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</a:rPr>
              <a:t>Coefficienti cultivar: Cult_v2 (β=-1.20***), Cult_v3 (β=-0.79***) → Cultivar 1 produce vini con maggiore gradazione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Conclusioni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200400" y="1463040"/>
            <a:ext cx="2743200" cy="27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Integrazione efficace di tre approcci statistici: grafi indiretti, DAG e regressione → convergenza robusta sui predittori chiave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Il cultivar non è riducibile alle caratteristiche chimiche: effetto diretto indipendente suggerisce meccanismi biologici complessi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Validazione metodologica: UG, DAG e regressione identificano consistentemente Clri e Prln/Cultivar come determinanti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1241</Words>
  <Application>Microsoft Office PowerPoint</Application>
  <PresentationFormat>Presentazione su schermo (16:9)</PresentationFormat>
  <Paragraphs>284</Paragraphs>
  <Slides>20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3" baseType="lpstr">
      <vt:lpstr>Arial</vt:lpstr>
      <vt:lpstr>Arial Black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Statistica del Contenuto Alcolico nel Vino</dc:title>
  <dc:subject>PptxGenJS Presentation</dc:subject>
  <dc:creator>Eros Pinzani</dc:creator>
  <cp:lastModifiedBy>Eros Pinzani</cp:lastModifiedBy>
  <cp:revision>25</cp:revision>
  <dcterms:created xsi:type="dcterms:W3CDTF">2026-02-24T15:06:22Z</dcterms:created>
  <dcterms:modified xsi:type="dcterms:W3CDTF">2026-02-26T11:03:00Z</dcterms:modified>
</cp:coreProperties>
</file>